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Akzidenz-Grotesk Bold" charset="1" panose="02000803050000020004"/>
      <p:regular r:id="rId19"/>
    </p:embeddedFont>
    <p:embeddedFont>
      <p:font typeface="IBM Plex Sans" charset="1" panose="020B0503050203000203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96500" y="1238250"/>
            <a:ext cx="6667500" cy="6858000"/>
            <a:chOff x="0" y="0"/>
            <a:chExt cx="8890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0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5191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90000" cy="918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96500" y="1238250"/>
            <a:ext cx="6667500" cy="590550"/>
            <a:chOff x="0" y="0"/>
            <a:chExt cx="8890000" cy="78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787400"/>
            </a:xfrm>
            <a:custGeom>
              <a:avLst/>
              <a:gdLst/>
              <a:ahLst/>
              <a:cxnLst/>
              <a:rect r="r" b="b" t="t" l="l"/>
              <a:pathLst>
                <a:path h="7874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B8FF5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7750" y="962025"/>
            <a:ext cx="1143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EKSKUL • DIVISI PROGRAM • MINGGU 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1981200"/>
            <a:ext cx="933450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75"/>
              </a:lnSpc>
            </a:pPr>
            <a:r>
              <a:rPr lang="en-US" sz="112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CSS</a:t>
            </a:r>
          </a:p>
          <a:p>
            <a:pPr algn="l">
              <a:lnSpc>
                <a:spcPts val="11475"/>
              </a:lnSpc>
            </a:pPr>
            <a:r>
              <a:rPr lang="en-US" sz="112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LAYOUT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5286375"/>
            <a:ext cx="80962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25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Atur ukuran, jarak, garis, dan susunan elemen website.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4250" y="2428875"/>
            <a:ext cx="5143500" cy="230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.card {</a:t>
            </a:r>
          </a:p>
          <a:p>
            <a:pPr algn="l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margin: 24px;</a:t>
            </a:r>
          </a:p>
          <a:p>
            <a:pPr algn="l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padding: 20px;</a:t>
            </a:r>
          </a:p>
          <a:p>
            <a:pPr algn="l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  border: 2px solid;</a:t>
            </a:r>
          </a:p>
          <a:p>
            <a:pPr algn="l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01 / 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3810000"/>
            <a:ext cx="5334000" cy="2476500"/>
            <a:chOff x="0" y="0"/>
            <a:chExt cx="7112000" cy="3302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112000" cy="3302000"/>
              <a:chOff x="0" y="0"/>
              <a:chExt cx="7112000" cy="3302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11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35000" y="879475"/>
              <a:ext cx="5461000" cy="668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6"/>
                </a:lnSpc>
              </a:pPr>
              <a:r>
                <a:rPr lang="en-US" sz="330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CSS DASAR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35000" y="1793875"/>
              <a:ext cx="5461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warna • font • selector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6858000" y="5048250"/>
            <a:ext cx="4476750" cy="0"/>
          </a:xfrm>
          <a:prstGeom prst="line">
            <a:avLst/>
          </a:prstGeom>
          <a:ln cap="rnd" w="76200">
            <a:solidFill>
              <a:srgbClr val="B8FF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572500" y="4572000"/>
            <a:ext cx="1047750" cy="952500"/>
            <a:chOff x="0" y="0"/>
            <a:chExt cx="1397000" cy="127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397000">
                  <a:moveTo>
                    <a:pt x="161636" y="0"/>
                  </a:moveTo>
                  <a:lnTo>
                    <a:pt x="1235364" y="0"/>
                  </a:lnTo>
                  <a:cubicBezTo>
                    <a:pt x="1324633" y="0"/>
                    <a:pt x="1397000" y="72367"/>
                    <a:pt x="1397000" y="161636"/>
                  </a:cubicBezTo>
                  <a:lnTo>
                    <a:pt x="1397000" y="1108364"/>
                  </a:lnTo>
                  <a:cubicBezTo>
                    <a:pt x="1397000" y="1197633"/>
                    <a:pt x="1324633" y="1270000"/>
                    <a:pt x="1235364" y="1270000"/>
                  </a:cubicBezTo>
                  <a:lnTo>
                    <a:pt x="161636" y="1270000"/>
                  </a:lnTo>
                  <a:cubicBezTo>
                    <a:pt x="72367" y="1270000"/>
                    <a:pt x="0" y="1197633"/>
                    <a:pt x="0" y="1108364"/>
                  </a:cubicBezTo>
                  <a:lnTo>
                    <a:pt x="0" y="161636"/>
                  </a:lnTo>
                  <a:cubicBezTo>
                    <a:pt x="0" y="72367"/>
                    <a:pt x="72367" y="0"/>
                    <a:pt x="161636" y="0"/>
                  </a:cubicBezTo>
                  <a:close/>
                </a:path>
              </a:pathLst>
            </a:custGeom>
            <a:solidFill>
              <a:srgbClr val="B8FF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397000" cy="1365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→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11000" y="3810000"/>
            <a:ext cx="5334000" cy="2476500"/>
            <a:chOff x="0" y="0"/>
            <a:chExt cx="7112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112000" cy="3302000"/>
              <a:chOff x="0" y="0"/>
              <a:chExt cx="7112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2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026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7112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2000" y="879475"/>
              <a:ext cx="5588000" cy="6689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6"/>
                </a:lnSpc>
              </a:pPr>
              <a:r>
                <a:rPr lang="en-US" sz="330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CSS LAYOUT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62000" y="1793875"/>
              <a:ext cx="5588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ruang • ukuran • posisi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7750" y="8191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REVIEW MINGGU 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1466850"/>
            <a:ext cx="14287500" cy="940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Dari gaya → ke susunan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62500" y="7191375"/>
            <a:ext cx="87630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Kita sudah membuat elemen terlihat bagus. Sekarang kita membuatnya tertata.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02 / 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KONSEP UTAMA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552575"/>
            <a:ext cx="10001250" cy="165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58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Layout = cara elemen</a:t>
            </a:r>
          </a:p>
          <a:p>
            <a:pPr algn="l">
              <a:lnSpc>
                <a:spcPts val="5967"/>
              </a:lnSpc>
            </a:pPr>
            <a:r>
              <a:rPr lang="en-US" sz="58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menempati halaman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3857625"/>
            <a:ext cx="8096250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Browser membaca HTML, lalu CSS menentukan ukuran, jarak, dan cara setiap elemen tersusun.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0" y="1333500"/>
            <a:ext cx="6667500" cy="6667500"/>
            <a:chOff x="0" y="0"/>
            <a:chExt cx="8890000" cy="889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15191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9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39500" y="1724025"/>
            <a:ext cx="4762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HALAMAN WEB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49000" y="2571750"/>
            <a:ext cx="5143500" cy="809625"/>
            <a:chOff x="0" y="0"/>
            <a:chExt cx="6858000" cy="1079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6858000">
                  <a:moveTo>
                    <a:pt x="32926" y="0"/>
                  </a:moveTo>
                  <a:lnTo>
                    <a:pt x="6825074" y="0"/>
                  </a:lnTo>
                  <a:cubicBezTo>
                    <a:pt x="6833807" y="0"/>
                    <a:pt x="6842182" y="3469"/>
                    <a:pt x="6848356" y="9644"/>
                  </a:cubicBezTo>
                  <a:cubicBezTo>
                    <a:pt x="6854531" y="15819"/>
                    <a:pt x="6858000" y="24193"/>
                    <a:pt x="6858000" y="32926"/>
                  </a:cubicBezTo>
                  <a:lnTo>
                    <a:pt x="6858000" y="1046574"/>
                  </a:lnTo>
                  <a:cubicBezTo>
                    <a:pt x="6858000" y="1055307"/>
                    <a:pt x="6854531" y="1063681"/>
                    <a:pt x="6848356" y="1069856"/>
                  </a:cubicBezTo>
                  <a:cubicBezTo>
                    <a:pt x="6842182" y="1076031"/>
                    <a:pt x="6833807" y="1079500"/>
                    <a:pt x="6825074" y="1079500"/>
                  </a:cubicBezTo>
                  <a:lnTo>
                    <a:pt x="32926" y="1079500"/>
                  </a:lnTo>
                  <a:cubicBezTo>
                    <a:pt x="24193" y="1079500"/>
                    <a:pt x="15819" y="1076031"/>
                    <a:pt x="9644" y="1069856"/>
                  </a:cubicBezTo>
                  <a:cubicBezTo>
                    <a:pt x="3469" y="1063681"/>
                    <a:pt x="0" y="1055307"/>
                    <a:pt x="0" y="1046574"/>
                  </a:cubicBezTo>
                  <a:lnTo>
                    <a:pt x="0" y="32926"/>
                  </a:lnTo>
                  <a:cubicBezTo>
                    <a:pt x="0" y="24193"/>
                    <a:pt x="3469" y="15819"/>
                    <a:pt x="9644" y="9644"/>
                  </a:cubicBezTo>
                  <a:cubicBezTo>
                    <a:pt x="15819" y="3469"/>
                    <a:pt x="24193" y="0"/>
                    <a:pt x="32926" y="0"/>
                  </a:cubicBezTo>
                  <a:close/>
                </a:path>
              </a:pathLst>
            </a:custGeom>
            <a:solidFill>
              <a:srgbClr val="B8FF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6858000" cy="1174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NAVIGASI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49000" y="3714750"/>
            <a:ext cx="3333750" cy="3048000"/>
            <a:chOff x="0" y="0"/>
            <a:chExt cx="4445000" cy="406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4445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4013200"/>
                  </a:lnTo>
                  <a:cubicBezTo>
                    <a:pt x="4445000" y="4041256"/>
                    <a:pt x="4422256" y="4064000"/>
                    <a:pt x="4394200" y="4064000"/>
                  </a:cubicBezTo>
                  <a:lnTo>
                    <a:pt x="50800" y="4064000"/>
                  </a:lnTo>
                  <a:cubicBezTo>
                    <a:pt x="22744" y="4064000"/>
                    <a:pt x="0" y="4041256"/>
                    <a:pt x="0" y="4013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55DF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4445000" cy="415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KONTEN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68500" y="3714750"/>
            <a:ext cx="1524000" cy="3048000"/>
            <a:chOff x="0" y="0"/>
            <a:chExt cx="2032000" cy="406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2032000">
                  <a:moveTo>
                    <a:pt x="111125" y="0"/>
                  </a:moveTo>
                  <a:lnTo>
                    <a:pt x="1920875" y="0"/>
                  </a:lnTo>
                  <a:cubicBezTo>
                    <a:pt x="1982248" y="0"/>
                    <a:pt x="2032000" y="49752"/>
                    <a:pt x="2032000" y="111125"/>
                  </a:cubicBezTo>
                  <a:lnTo>
                    <a:pt x="2032000" y="3952875"/>
                  </a:lnTo>
                  <a:cubicBezTo>
                    <a:pt x="2032000" y="4014248"/>
                    <a:pt x="1982248" y="4064000"/>
                    <a:pt x="1920875" y="4064000"/>
                  </a:cubicBezTo>
                  <a:lnTo>
                    <a:pt x="111125" y="4064000"/>
                  </a:lnTo>
                  <a:cubicBezTo>
                    <a:pt x="49752" y="4064000"/>
                    <a:pt x="0" y="4014248"/>
                    <a:pt x="0" y="3952875"/>
                  </a:cubicBezTo>
                  <a:lnTo>
                    <a:pt x="0" y="111125"/>
                  </a:lnTo>
                  <a:cubicBezTo>
                    <a:pt x="0" y="49752"/>
                    <a:pt x="49752" y="0"/>
                    <a:pt x="111125" y="0"/>
                  </a:cubicBezTo>
                  <a:close/>
                </a:path>
              </a:pathLst>
            </a:custGeom>
            <a:solidFill>
              <a:srgbClr val="FF9B54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2032000" cy="415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SIDE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03 / 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BOX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57325"/>
            <a:ext cx="12382500" cy="88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Setiap elemen adalah kotak.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4500" y="2905125"/>
            <a:ext cx="8096250" cy="5905500"/>
            <a:chOff x="0" y="0"/>
            <a:chExt cx="10795000" cy="78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5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20263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95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57500" y="3714750"/>
            <a:ext cx="5810250" cy="4286250"/>
            <a:chOff x="0" y="0"/>
            <a:chExt cx="7747000" cy="571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47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7747000">
                  <a:moveTo>
                    <a:pt x="0" y="0"/>
                  </a:moveTo>
                  <a:lnTo>
                    <a:pt x="7747000" y="0"/>
                  </a:lnTo>
                  <a:lnTo>
                    <a:pt x="7747000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FF9B5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747000" cy="575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00500" y="4524375"/>
            <a:ext cx="3524250" cy="2667000"/>
            <a:chOff x="0" y="0"/>
            <a:chExt cx="4699000" cy="355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99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3556000"/>
                  </a:lnTo>
                  <a:lnTo>
                    <a:pt x="0" y="3556000"/>
                  </a:lnTo>
                  <a:close/>
                </a:path>
              </a:pathLst>
            </a:custGeom>
            <a:solidFill>
              <a:srgbClr val="55DF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99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62500" y="5381625"/>
            <a:ext cx="2000250" cy="952500"/>
            <a:chOff x="0" y="0"/>
            <a:chExt cx="2667000" cy="127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7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B0D10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67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00250" y="3162300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MARGIN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3250" y="39719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BORDER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6250" y="4781550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150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PADDING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34250" y="5800725"/>
            <a:ext cx="36195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3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CONTENT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72750" y="6915150"/>
            <a:ext cx="571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 ukuran = content + padding + border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04 / 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MARGIN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47800"/>
            <a:ext cx="1190625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Ruang di luar elemen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619375"/>
            <a:ext cx="7620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Gunakan margin untuk memberi jarak antar elemen.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8250" y="4000500"/>
            <a:ext cx="7524750" cy="3714750"/>
            <a:chOff x="0" y="0"/>
            <a:chExt cx="10033000" cy="495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33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20263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033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62250" y="5810250"/>
            <a:ext cx="4476750" cy="1143000"/>
            <a:chOff x="0" y="0"/>
            <a:chExt cx="5969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B8FF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969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48125" y="5000625"/>
            <a:ext cx="2286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192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24 px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2571750"/>
            <a:ext cx="7810500" cy="5334000"/>
            <a:chOff x="0" y="0"/>
            <a:chExt cx="10414000" cy="711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7112000"/>
              <a:chOff x="0" y="0"/>
              <a:chExt cx="10414000" cy="711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62000" y="577850"/>
              <a:ext cx="9017000" cy="3165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.card {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margin: 24px;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  <a:p>
              <a:pPr algn="l">
                <a:lnSpc>
                  <a:spcPts val="3153"/>
                </a:lnSpc>
              </a:pP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/* atas | kanan | bawah | kiri */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.box { margin: 10px 20px 30px 40px; }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05 / 12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PADDING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47800"/>
            <a:ext cx="1190625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Ruang di dalam elemen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619375"/>
            <a:ext cx="76200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Padding membuat isi tidak menempel pada tepi.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28750" y="3952875"/>
            <a:ext cx="6858000" cy="3810000"/>
            <a:chOff x="0" y="0"/>
            <a:chExt cx="9144000" cy="508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080000"/>
                  </a:lnTo>
                  <a:lnTo>
                    <a:pt x="0" y="5080000"/>
                  </a:lnTo>
                  <a:close/>
                </a:path>
              </a:pathLst>
            </a:custGeom>
            <a:solidFill>
              <a:srgbClr val="55DFF7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67000" y="5191125"/>
            <a:ext cx="4381500" cy="1333500"/>
            <a:chOff x="0" y="0"/>
            <a:chExt cx="5842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2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0B0D1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842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52750" y="5610225"/>
            <a:ext cx="3714750" cy="50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33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ISI CARD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2571750"/>
            <a:ext cx="7810500" cy="5334000"/>
            <a:chOff x="0" y="0"/>
            <a:chExt cx="10414000" cy="711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7112000"/>
              <a:chOff x="0" y="0"/>
              <a:chExt cx="10414000" cy="711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16000" y="958850"/>
              <a:ext cx="8255000" cy="331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1"/>
                </a:lnSpc>
              </a:pPr>
              <a:r>
                <a:rPr lang="en-US" sz="23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.card {</a:t>
              </a:r>
            </a:p>
            <a:p>
              <a:pPr algn="l">
                <a:lnSpc>
                  <a:spcPts val="3371"/>
                </a:lnSpc>
              </a:pPr>
              <a:r>
                <a:rPr lang="en-US" sz="23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padding: 32px;</a:t>
              </a:r>
            </a:p>
            <a:p>
              <a:pPr algn="l">
                <a:lnSpc>
                  <a:spcPts val="3371"/>
                </a:lnSpc>
              </a:pPr>
              <a:r>
                <a:rPr lang="en-US" sz="23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  <a:p>
              <a:pPr algn="l">
                <a:lnSpc>
                  <a:spcPts val="3371"/>
                </a:lnSpc>
              </a:pPr>
            </a:p>
            <a:p>
              <a:pPr algn="l">
                <a:lnSpc>
                  <a:spcPts val="3371"/>
                </a:lnSpc>
              </a:pPr>
              <a:r>
                <a:rPr lang="en-US" sz="23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/* vertikal | horizontal */</a:t>
              </a:r>
            </a:p>
            <a:p>
              <a:pPr algn="l">
                <a:lnSpc>
                  <a:spcPts val="3371"/>
                </a:lnSpc>
              </a:pPr>
              <a:r>
                <a:rPr lang="en-US" sz="23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.box { padding: 16px 24px; }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06 / 12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BORDER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57325"/>
            <a:ext cx="14287500" cy="88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Garis yang mengelilingi elemen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28750" y="3714750"/>
            <a:ext cx="3714750" cy="2286000"/>
            <a:chOff x="0" y="0"/>
            <a:chExt cx="4953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5191F"/>
            </a:solidFill>
            <a:ln w="47625" cap="sq">
              <a:solidFill>
                <a:srgbClr val="B8FF5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86500" y="3714750"/>
            <a:ext cx="3714750" cy="2286000"/>
            <a:chOff x="0" y="0"/>
            <a:chExt cx="4953000" cy="304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5191F"/>
            </a:solidFill>
            <a:ln w="47625" cap="sq">
              <a:solidFill>
                <a:srgbClr val="55DFF7"/>
              </a:solidFill>
              <a:prstDash val="lg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44250" y="3714750"/>
            <a:ext cx="3714750" cy="2286000"/>
            <a:chOff x="0" y="0"/>
            <a:chExt cx="4953000" cy="304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5191F"/>
            </a:solidFill>
            <a:ln w="47625" cap="sq">
              <a:solidFill>
                <a:srgbClr val="FF9B5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53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57375" y="4752975"/>
            <a:ext cx="2857500" cy="40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625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solid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5125" y="4752975"/>
            <a:ext cx="2857500" cy="40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625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dashed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2875" y="4752975"/>
            <a:ext cx="2857500" cy="40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625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rounded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6250" y="7191375"/>
            <a:ext cx="9715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border: 2px solid #b8ff5a;</a:t>
            </a:r>
          </a:p>
          <a:p>
            <a:pPr algn="ctr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border-radius: 16px;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07 / 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MARGIN VS PADDING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47800"/>
            <a:ext cx="123825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 luar atau di dalam?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143250"/>
            <a:ext cx="7239000" cy="3619500"/>
            <a:chOff x="0" y="0"/>
            <a:chExt cx="9652000" cy="482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652000" cy="4826000"/>
              <a:chOff x="0" y="0"/>
              <a:chExt cx="9652000" cy="4826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652000" cy="4826000"/>
              </a:xfrm>
              <a:custGeom>
                <a:avLst/>
                <a:gdLst/>
                <a:ahLst/>
                <a:cxnLst/>
                <a:rect r="r" b="b" t="t" l="l"/>
                <a:pathLst>
                  <a:path h="4826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652000" cy="486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488950"/>
              <a:ext cx="7620000" cy="708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34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MARGIN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1612900"/>
              <a:ext cx="7620000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Jarak antar kotak</a:t>
              </a:r>
            </a:p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Tidak punya warna latar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06000" y="3143250"/>
            <a:ext cx="7239000" cy="3619500"/>
            <a:chOff x="0" y="0"/>
            <a:chExt cx="9652000" cy="4826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652000" cy="4826000"/>
              <a:chOff x="0" y="0"/>
              <a:chExt cx="9652000" cy="4826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652000" cy="4826000"/>
              </a:xfrm>
              <a:custGeom>
                <a:avLst/>
                <a:gdLst/>
                <a:ahLst/>
                <a:cxnLst/>
                <a:rect r="r" b="b" t="t" l="l"/>
                <a:pathLst>
                  <a:path h="4826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4826000"/>
                    </a:lnTo>
                    <a:lnTo>
                      <a:pt x="0" y="4826000"/>
                    </a:lnTo>
                    <a:close/>
                  </a:path>
                </a:pathLst>
              </a:custGeom>
              <a:solidFill>
                <a:srgbClr val="2026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652000" cy="486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35000" y="488950"/>
              <a:ext cx="7620000" cy="708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9"/>
                </a:lnSpc>
              </a:pPr>
              <a:r>
                <a:rPr lang="en-US" sz="34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PADDING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1612900"/>
              <a:ext cx="7620000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Jarak isi ke border</a:t>
              </a:r>
            </a:p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Mengikuti warna latar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144000" y="3333750"/>
            <a:ext cx="0" cy="3238500"/>
          </a:xfrm>
          <a:prstGeom prst="line">
            <a:avLst/>
          </a:prstGeom>
          <a:ln cap="flat" w="28575">
            <a:solidFill>
              <a:srgbClr val="B8FF5A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810000" y="7772400"/>
            <a:ext cx="10668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b="true" sz="2550" spc="204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Ingat: margin memisahkan • padding melapangkan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08 / 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DISPLAY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47800"/>
            <a:ext cx="123825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Bagaimana elemen tampil?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619375"/>
            <a:ext cx="857250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>
                <a:solidFill>
                  <a:srgbClr val="9BA6B2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 mengatur perilaku kotak di halaman.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43000" y="3905250"/>
            <a:ext cx="4762500" cy="2381250"/>
            <a:chOff x="0" y="0"/>
            <a:chExt cx="6350000" cy="317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350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3139440"/>
                  </a:lnTo>
                  <a:cubicBezTo>
                    <a:pt x="6350000" y="3148871"/>
                    <a:pt x="6346253" y="3157916"/>
                    <a:pt x="6339585" y="3164585"/>
                  </a:cubicBezTo>
                  <a:cubicBezTo>
                    <a:pt x="6332916" y="3171254"/>
                    <a:pt x="6323871" y="3175000"/>
                    <a:pt x="6314440" y="3175000"/>
                  </a:cubicBezTo>
                  <a:lnTo>
                    <a:pt x="35560" y="3175000"/>
                  </a:lnTo>
                  <a:cubicBezTo>
                    <a:pt x="15921" y="3175000"/>
                    <a:pt x="0" y="3159079"/>
                    <a:pt x="0" y="313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B8FF5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6350000" cy="327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BLOCK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baris baru, lebar penuh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0" y="3905250"/>
            <a:ext cx="4762500" cy="2381250"/>
            <a:chOff x="0" y="0"/>
            <a:chExt cx="6350000" cy="317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350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3139440"/>
                  </a:lnTo>
                  <a:cubicBezTo>
                    <a:pt x="6350000" y="3148871"/>
                    <a:pt x="6346253" y="3157916"/>
                    <a:pt x="6339585" y="3164585"/>
                  </a:cubicBezTo>
                  <a:cubicBezTo>
                    <a:pt x="6332916" y="3171254"/>
                    <a:pt x="6323871" y="3175000"/>
                    <a:pt x="6314440" y="3175000"/>
                  </a:cubicBezTo>
                  <a:lnTo>
                    <a:pt x="35560" y="3175000"/>
                  </a:lnTo>
                  <a:cubicBezTo>
                    <a:pt x="15921" y="3175000"/>
                    <a:pt x="0" y="3159079"/>
                    <a:pt x="0" y="313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55DFF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6350000" cy="327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INLINE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sebaris dengan teks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82500" y="3905250"/>
            <a:ext cx="4762500" cy="2381250"/>
            <a:chOff x="0" y="0"/>
            <a:chExt cx="6350000" cy="317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350000">
                  <a:moveTo>
                    <a:pt x="35560" y="0"/>
                  </a:moveTo>
                  <a:lnTo>
                    <a:pt x="6314440" y="0"/>
                  </a:lnTo>
                  <a:cubicBezTo>
                    <a:pt x="6323871" y="0"/>
                    <a:pt x="6332916" y="3746"/>
                    <a:pt x="6339585" y="10415"/>
                  </a:cubicBezTo>
                  <a:cubicBezTo>
                    <a:pt x="6346253" y="17084"/>
                    <a:pt x="6350000" y="26129"/>
                    <a:pt x="6350000" y="35560"/>
                  </a:cubicBezTo>
                  <a:lnTo>
                    <a:pt x="6350000" y="3139440"/>
                  </a:lnTo>
                  <a:cubicBezTo>
                    <a:pt x="6350000" y="3148871"/>
                    <a:pt x="6346253" y="3157916"/>
                    <a:pt x="6339585" y="3164585"/>
                  </a:cubicBezTo>
                  <a:cubicBezTo>
                    <a:pt x="6332916" y="3171254"/>
                    <a:pt x="6323871" y="3175000"/>
                    <a:pt x="6314440" y="3175000"/>
                  </a:cubicBezTo>
                  <a:lnTo>
                    <a:pt x="35560" y="3175000"/>
                  </a:lnTo>
                  <a:cubicBezTo>
                    <a:pt x="15921" y="3175000"/>
                    <a:pt x="0" y="3159079"/>
                    <a:pt x="0" y="3139440"/>
                  </a:cubicBezTo>
                  <a:lnTo>
                    <a:pt x="0" y="35560"/>
                  </a:lnTo>
                  <a:cubicBezTo>
                    <a:pt x="0" y="15921"/>
                    <a:pt x="15921" y="0"/>
                    <a:pt x="35560" y="0"/>
                  </a:cubicBezTo>
                  <a:close/>
                </a:path>
              </a:pathLst>
            </a:custGeom>
            <a:solidFill>
              <a:srgbClr val="FF9B5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6350000" cy="327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FLEX</a:t>
              </a:r>
            </a:p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0B0D10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susun anak dengan mudah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34000" y="7858125"/>
            <a:ext cx="7620000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2550">
                <a:solidFill>
                  <a:srgbClr val="F7F8FA"/>
                </a:solidFill>
                <a:latin typeface="IBM Plex Mono"/>
                <a:ea typeface="IBM Plex Mono"/>
                <a:cs typeface="IBM Plex Mono"/>
                <a:sym typeface="IBM Plex Mono"/>
              </a:rPr>
              <a:t>.menu { display: flex; 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09 / 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STUDI KASUS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47800"/>
            <a:ext cx="1047750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Membuat Card Profile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190875"/>
            <a:ext cx="7810500" cy="4095750"/>
            <a:chOff x="0" y="0"/>
            <a:chExt cx="10414000" cy="5461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14000" cy="5461000"/>
              <a:chOff x="0" y="0"/>
              <a:chExt cx="10414000" cy="5461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41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41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641350"/>
              <a:ext cx="8890000" cy="263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&lt;div class="card"&gt;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&lt;img src="foto.jpg"&gt;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&lt;h2&gt;Alya&lt;/h2&gt;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&lt;p&gt;Frontend pemula&lt;/p&gt;</a:t>
              </a:r>
            </a:p>
            <a:p>
              <a:pPr algn="l">
                <a:lnSpc>
                  <a:spcPts val="3153"/>
                </a:lnSpc>
              </a:pPr>
              <a:r>
                <a:rPr lang="en-US" sz="217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&lt;/div&gt;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68000" y="3190875"/>
            <a:ext cx="5905500" cy="4095750"/>
            <a:chOff x="0" y="0"/>
            <a:chExt cx="7874000" cy="546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874000" cy="5461000"/>
              <a:chOff x="0" y="0"/>
              <a:chExt cx="7874000" cy="546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7874000">
                    <a:moveTo>
                      <a:pt x="0" y="0"/>
                    </a:moveTo>
                    <a:lnTo>
                      <a:pt x="7874000" y="0"/>
                    </a:lnTo>
                    <a:lnTo>
                      <a:pt x="787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2026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40000" y="762000"/>
              <a:ext cx="2794000" cy="1905000"/>
              <a:chOff x="0" y="0"/>
              <a:chExt cx="2794000" cy="1905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94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794000">
                    <a:moveTo>
                      <a:pt x="1397000" y="0"/>
                    </a:moveTo>
                    <a:cubicBezTo>
                      <a:pt x="2168542" y="0"/>
                      <a:pt x="2794000" y="426449"/>
                      <a:pt x="2794000" y="952500"/>
                    </a:cubicBezTo>
                    <a:cubicBezTo>
                      <a:pt x="2794000" y="1478551"/>
                      <a:pt x="2168542" y="1905000"/>
                      <a:pt x="1397000" y="1905000"/>
                    </a:cubicBezTo>
                    <a:cubicBezTo>
                      <a:pt x="625458" y="1905000"/>
                      <a:pt x="0" y="1478551"/>
                      <a:pt x="0" y="952500"/>
                    </a:cubicBezTo>
                    <a:cubicBezTo>
                      <a:pt x="0" y="426449"/>
                      <a:pt x="625458" y="0"/>
                      <a:pt x="1397000" y="0"/>
                    </a:cubicBezTo>
                    <a:close/>
                  </a:path>
                </a:pathLst>
              </a:custGeom>
              <a:solidFill>
                <a:srgbClr val="55DF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794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397000" y="2857500"/>
              <a:ext cx="5080000" cy="719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2"/>
                </a:lnSpc>
              </a:pPr>
              <a:r>
                <a:rPr lang="en-US" sz="360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Alya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397000" y="3771900"/>
              <a:ext cx="5080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9"/>
                </a:lnSpc>
              </a:pPr>
              <a:r>
                <a:rPr lang="en-US" sz="1950">
                  <a:solidFill>
                    <a:srgbClr val="9BA6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Frontend pemula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619500" y="8048625"/>
            <a:ext cx="110490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2475" spc="198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HTML memberi isi  →  CSS memberi bentuk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286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KODE CARD PROFILE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81100"/>
            <a:ext cx="1047750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25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Gabungkan semuanya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571750"/>
            <a:ext cx="7810500" cy="6191250"/>
            <a:chOff x="0" y="0"/>
            <a:chExt cx="10414000" cy="825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14000" cy="8255000"/>
              <a:chOff x="0" y="0"/>
              <a:chExt cx="10414000" cy="825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414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414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98500" y="704850"/>
              <a:ext cx="8890000" cy="294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HTML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&lt;div class="card"&gt;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&lt;img class="avatar"&gt;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&lt;h2&gt;Alya&lt;/h2&gt;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&lt;p&gt;Frontend pemula&lt;/p&gt;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&lt;/div&gt;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0" y="2571750"/>
            <a:ext cx="7810500" cy="6191250"/>
            <a:chOff x="0" y="0"/>
            <a:chExt cx="10414000" cy="825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414000" cy="8255000"/>
              <a:chOff x="0" y="0"/>
              <a:chExt cx="10414000" cy="825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414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2026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414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35000" y="133350"/>
              <a:ext cx="8890000" cy="442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CSS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.card {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margin: 24px auto;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padding: 24px;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border: 2px solid #b8ff5a;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border-radius: 16px;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display: block;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width: 320px;</a:t>
              </a:r>
            </a:p>
            <a:p>
              <a:pPr algn="l">
                <a:lnSpc>
                  <a:spcPts val="2936"/>
                </a:lnSpc>
              </a:pPr>
              <a:r>
                <a:rPr lang="en-US" sz="2025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819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MINI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457325"/>
            <a:ext cx="11430000" cy="106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F7F8F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Buat card versimu.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190875"/>
            <a:ext cx="8096250" cy="4476750"/>
            <a:chOff x="0" y="0"/>
            <a:chExt cx="10795000" cy="5969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795000" cy="5969000"/>
              <a:chOff x="0" y="0"/>
              <a:chExt cx="10795000" cy="5969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795000" cy="5969000"/>
              </a:xfrm>
              <a:custGeom>
                <a:avLst/>
                <a:gdLst/>
                <a:ahLst/>
                <a:cxnLst/>
                <a:rect r="r" b="b" t="t" l="l"/>
                <a:pathLst>
                  <a:path h="5969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15191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795000" cy="600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631825"/>
              <a:ext cx="9779000" cy="2886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en-US" sz="3000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 Ubah ukuran padding</a:t>
              </a:r>
            </a:p>
            <a:p>
              <a:pPr algn="l">
                <a:lnSpc>
                  <a:spcPts val="4350"/>
                </a:lnSpc>
              </a:pPr>
              <a:r>
                <a:rPr lang="en-US" sz="3000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 Coba margin auto</a:t>
              </a:r>
            </a:p>
            <a:p>
              <a:pPr algn="l">
                <a:lnSpc>
                  <a:spcPts val="4350"/>
                </a:lnSpc>
              </a:pPr>
              <a:r>
                <a:rPr lang="en-US" sz="3000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 Ganti gaya border</a:t>
              </a:r>
            </a:p>
            <a:p>
              <a:pPr algn="l">
                <a:lnSpc>
                  <a:spcPts val="4350"/>
                </a:lnSpc>
              </a:pPr>
              <a:r>
                <a:rPr lang="en-US" sz="3000">
                  <a:solidFill>
                    <a:srgbClr val="F7F8F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 Tambah border-radius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01250" y="3190875"/>
            <a:ext cx="6953250" cy="4476750"/>
            <a:chOff x="0" y="0"/>
            <a:chExt cx="9271000" cy="5969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271000" cy="5969000"/>
              <a:chOff x="0" y="0"/>
              <a:chExt cx="9271000" cy="5969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271000" cy="5969000"/>
              </a:xfrm>
              <a:custGeom>
                <a:avLst/>
                <a:gdLst/>
                <a:ahLst/>
                <a:cxnLst/>
                <a:rect r="r" b="b" t="t" l="l"/>
                <a:pathLst>
                  <a:path h="5969000" w="9271000">
                    <a:moveTo>
                      <a:pt x="0" y="0"/>
                    </a:moveTo>
                    <a:lnTo>
                      <a:pt x="9271000" y="0"/>
                    </a:lnTo>
                    <a:lnTo>
                      <a:pt x="9271000" y="5969000"/>
                    </a:lnTo>
                    <a:lnTo>
                      <a:pt x="0" y="5969000"/>
                    </a:lnTo>
                    <a:close/>
                  </a:path>
                </a:pathLst>
              </a:custGeom>
              <a:solidFill>
                <a:srgbClr val="20263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9271000" cy="600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70000" y="406400"/>
              <a:ext cx="5080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144" b="true">
                  <a:solidFill>
                    <a:srgbClr val="B8FF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INGAT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70000" y="1260475"/>
              <a:ext cx="7239000" cy="2509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8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Box Model</a:t>
              </a:r>
            </a:p>
            <a:p>
              <a:pPr algn="l">
                <a:lnSpc>
                  <a:spcPts val="2907"/>
                </a:lnSpc>
              </a:pPr>
              <a:r>
                <a:rPr lang="en-US" sz="28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Margin = luar</a:t>
              </a:r>
            </a:p>
            <a:p>
              <a:pPr algn="l">
                <a:lnSpc>
                  <a:spcPts val="2907"/>
                </a:lnSpc>
              </a:pPr>
              <a:r>
                <a:rPr lang="en-US" sz="28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Padding = dalam</a:t>
              </a:r>
            </a:p>
            <a:p>
              <a:pPr algn="l">
                <a:lnSpc>
                  <a:spcPts val="2907"/>
                </a:lnSpc>
              </a:pPr>
              <a:r>
                <a:rPr lang="en-US" sz="28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Border = garis</a:t>
              </a:r>
            </a:p>
            <a:p>
              <a:pPr algn="l">
                <a:lnSpc>
                  <a:spcPts val="2907"/>
                </a:lnSpc>
              </a:pPr>
              <a:r>
                <a:rPr lang="en-US" sz="2850" b="true">
                  <a:solidFill>
                    <a:srgbClr val="F7F8FA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Display = cara tampil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43250" y="8524875"/>
            <a:ext cx="12001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2850" spc="228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Eksperimen. Lihat hasil. Ulangi.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9648825"/>
            <a:ext cx="1619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B8FF5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DIVISI PROGRAM  •  KELAS 10                              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DAHWw8CHHbA</dc:identifier>
  <dcterms:modified xsi:type="dcterms:W3CDTF">2011-08-01T06:04:30Z</dcterms:modified>
  <cp:revision>1</cp:revision>
  <dc:title>CSS Layout Minggu 8</dc:title>
</cp:coreProperties>
</file>